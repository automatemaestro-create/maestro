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41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orchestrateur-workers · communication inter-agents · stack. 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Commencer simple et composable, robustifier là où c'est mesurablement utile.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technique v0.1  ·  vulgarisé pour le chef de projet, détaillé pour l'équipe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couches, de l'interface aux données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55064"/>
            <a:ext cx="530352" cy="530352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1792956"/>
            <a:ext cx="254569" cy="254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27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Tower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62763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— le poste de pilotage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2450592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2624328"/>
            <a:ext cx="530352" cy="530352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762220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5968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API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846320" y="259689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 + temps réel — le standard téléphonique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20" y="3419856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C89B4B"/>
          </a:solidFill>
          <a:ln w="12700">
            <a:solidFill>
              <a:srgbClr val="C89B4B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593592"/>
            <a:ext cx="530352" cy="530352"/>
          </a:xfrm>
          <a:prstGeom prst="ellipse">
            <a:avLst/>
          </a:prstGeom>
          <a:solidFill>
            <a:srgbClr val="141A3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731484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566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846320" y="35661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Décomposition, routage, planification — le chef d'orchestre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02920" y="43891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4562856"/>
            <a:ext cx="530352" cy="530352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4700748"/>
            <a:ext cx="254569" cy="25456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5354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des agents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4846320" y="45354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autonome des tâches — les musiciens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02920" y="5358384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76200" dist="25400" dir="5400000">
              <a:srgbClr val="1A234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77240" y="5532120"/>
            <a:ext cx="530352" cy="530352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670012"/>
            <a:ext cx="254569" cy="25456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5504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mémoire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4846320" y="550468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Stockage, contexte, traces — la partition et les archives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orchestrateur → workers (natif Agent SDK)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orchestrateur décompose dynamiquement l'objectif en sous-tâches, les délègue à des workers spécialisés, puis synthétise leurs résultats. Plus flexible que des sous-tâches pré-définies.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2194560" cy="1097280"/>
          </a:xfrm>
          <a:prstGeom prst="roundRect">
            <a:avLst>
              <a:gd name="adj" fmla="val 7500"/>
            </a:avLst>
          </a:prstGeom>
          <a:solidFill>
            <a:srgbClr val="5B6690"/>
          </a:solidFill>
          <a:ln/>
          <a:effectLst>
            <a:outerShdw sx="100000" sy="100000" kx="0" ky="0" algn="bl" rotWithShape="0" blurRad="76200" dist="25400" dir="5400000">
              <a:srgbClr val="1A234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788920"/>
            <a:ext cx="548640" cy="5486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" y="293156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146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715768" y="2788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044952" y="2514600"/>
            <a:ext cx="2194560" cy="1097280"/>
          </a:xfrm>
          <a:prstGeom prst="roundRect">
            <a:avLst>
              <a:gd name="adj" fmla="val 7500"/>
            </a:avLst>
          </a:prstGeom>
          <a:solidFill>
            <a:srgbClr val="232C57"/>
          </a:solidFill>
          <a:ln/>
          <a:effectLst>
            <a:outerShdw sx="100000" sy="100000" kx="0" ky="0" algn="bl" rotWithShape="0" blurRad="76200" dist="25400" dir="5400000">
              <a:srgbClr val="1A234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00984" y="2788920"/>
            <a:ext cx="548640" cy="5486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30" y="293156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59352" y="25146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Orchestrateur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257800" y="27889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2"/>
          <p:cNvSpPr/>
          <p:nvPr/>
        </p:nvSpPr>
        <p:spPr>
          <a:xfrm>
            <a:off x="5586984" y="2514600"/>
            <a:ext cx="2194560" cy="1097280"/>
          </a:xfrm>
          <a:prstGeom prst="roundRect">
            <a:avLst>
              <a:gd name="adj" fmla="val 7500"/>
            </a:avLst>
          </a:prstGeom>
          <a:solidFill>
            <a:srgbClr val="3A4A8C"/>
          </a:solidFill>
          <a:ln/>
          <a:effectLst>
            <a:outerShdw sx="100000" sy="100000" kx="0" ky="0" algn="bl" rotWithShape="0" blurRad="76200" dist="25400" dir="5400000">
              <a:srgbClr val="1A2340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43016" y="2788920"/>
            <a:ext cx="548640" cy="5486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662" y="293156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01384" y="25146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Routeur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083296" y="2514600"/>
            <a:ext cx="1600200" cy="1097280"/>
          </a:xfrm>
          <a:prstGeom prst="roundRect">
            <a:avLst>
              <a:gd name="adj" fmla="val 7500"/>
            </a:avLst>
          </a:prstGeom>
          <a:solidFill>
            <a:srgbClr val="141A33"/>
          </a:solidFill>
          <a:ln/>
        </p:spPr>
      </p:sp>
      <p:sp>
        <p:nvSpPr>
          <p:cNvPr id="22" name="Text 16"/>
          <p:cNvSpPr/>
          <p:nvPr/>
        </p:nvSpPr>
        <p:spPr>
          <a:xfrm>
            <a:off x="8083296" y="25146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de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tâches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02920" y="4069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31520" y="4325112"/>
            <a:ext cx="548640" cy="54864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46775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0690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Dev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3319272" y="4069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547872" y="4325112"/>
            <a:ext cx="548640" cy="54864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0518" y="4467758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33672" y="40690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BDD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135624" y="4069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64224" y="4325112"/>
            <a:ext cx="548640" cy="54864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6870" y="4467758"/>
            <a:ext cx="263347" cy="26334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50024" y="40690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Designer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8951976" y="4069080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9180576" y="4325112"/>
            <a:ext cx="548640" cy="54864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222" y="4467758"/>
            <a:ext cx="263347" cy="263347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406908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QA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502920" y="5257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en parallèle · contexte isolé par agent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déléguer : chaque sous-tâche transmise à un worker porte un objectif, un format de sortie, les outils à utiliser et des limites claires.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routeur : quelle tâche pour quel agent 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création d'une tâche, le routeur combine trois signaux pour choisir le bon agent — sans intervention humaine.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5532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57860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272600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68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Correspondance de capacités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63040" y="2834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déclare des tags (backend, sql, ci-cd, ui…) ; on filtre les agents éligibles.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3566160"/>
            <a:ext cx="5532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85876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4006169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49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Classification légère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63040" y="4114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appel à un modèle rapide (Haiku) tranche entre candidats et gère les cas ambigus.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4846320"/>
            <a:ext cx="5532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513892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5286329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50292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Charge &amp; disponibilité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463040" y="5394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privilégie un agent libre ; sinon la tâche attend dans la file.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141A33"/>
          </a:solidFill>
          <a:ln/>
          <a:effectLst>
            <a:outerShdw sx="100000" sy="100000" kx="0" ky="0" algn="bl" rotWithShape="0" blurRad="127000" dist="38100" dir="5400000">
              <a:srgbClr val="1A2340">
                <a:alpha val="1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72084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ROUTAGE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903720" y="2103120"/>
            <a:ext cx="4251960" cy="566928"/>
          </a:xfrm>
          <a:prstGeom prst="roundRect">
            <a:avLst>
              <a:gd name="adj" fmla="val 11290"/>
            </a:avLst>
          </a:prstGeom>
          <a:solidFill>
            <a:srgbClr val="232C57"/>
          </a:solidFill>
          <a:ln/>
        </p:spPr>
      </p:sp>
      <p:sp>
        <p:nvSpPr>
          <p:cNvPr id="25" name="Shape 19"/>
          <p:cNvSpPr/>
          <p:nvPr/>
        </p:nvSpPr>
        <p:spPr>
          <a:xfrm>
            <a:off x="7086600" y="2276856"/>
            <a:ext cx="219456" cy="219456"/>
          </a:xfrm>
          <a:prstGeom prst="ellipse">
            <a:avLst/>
          </a:prstGeom>
          <a:solidFill>
            <a:srgbClr val="C89B4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1031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tâche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892540" y="2651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03720" y="2907792"/>
            <a:ext cx="4251960" cy="566928"/>
          </a:xfrm>
          <a:prstGeom prst="roundRect">
            <a:avLst>
              <a:gd name="adj" fmla="val 11290"/>
            </a:avLst>
          </a:prstGeom>
          <a:solidFill>
            <a:srgbClr val="232C57"/>
          </a:solidFill>
          <a:ln/>
        </p:spPr>
      </p:sp>
      <p:sp>
        <p:nvSpPr>
          <p:cNvPr id="29" name="Shape 23"/>
          <p:cNvSpPr/>
          <p:nvPr/>
        </p:nvSpPr>
        <p:spPr>
          <a:xfrm>
            <a:off x="7086600" y="3081528"/>
            <a:ext cx="219456" cy="219456"/>
          </a:xfrm>
          <a:prstGeom prst="ellipse">
            <a:avLst/>
          </a:prstGeom>
          <a:solidFill>
            <a:srgbClr val="5B6690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29077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requises ? → filtre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892540" y="3456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903720" y="3712464"/>
            <a:ext cx="4251960" cy="566928"/>
          </a:xfrm>
          <a:prstGeom prst="roundRect">
            <a:avLst>
              <a:gd name="adj" fmla="val 11290"/>
            </a:avLst>
          </a:prstGeom>
          <a:solidFill>
            <a:srgbClr val="232C57"/>
          </a:solidFill>
          <a:ln/>
        </p:spPr>
      </p:sp>
      <p:sp>
        <p:nvSpPr>
          <p:cNvPr id="33" name="Shape 27"/>
          <p:cNvSpPr/>
          <p:nvPr/>
        </p:nvSpPr>
        <p:spPr>
          <a:xfrm>
            <a:off x="7086600" y="3886200"/>
            <a:ext cx="219456" cy="219456"/>
          </a:xfrm>
          <a:prstGeom prst="ellipse">
            <a:avLst/>
          </a:prstGeom>
          <a:solidFill>
            <a:srgbClr val="5B6690"/>
          </a:solidFill>
          <a:ln/>
        </p:spPr>
      </p:sp>
      <p:sp>
        <p:nvSpPr>
          <p:cNvPr id="34" name="Text 28"/>
          <p:cNvSpPr/>
          <p:nvPr/>
        </p:nvSpPr>
        <p:spPr>
          <a:xfrm>
            <a:off x="7452360" y="371246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candidats ? → classifieur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8892540" y="42611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903720" y="4517136"/>
            <a:ext cx="4251960" cy="566928"/>
          </a:xfrm>
          <a:prstGeom prst="roundRect">
            <a:avLst>
              <a:gd name="adj" fmla="val 11290"/>
            </a:avLst>
          </a:prstGeom>
          <a:solidFill>
            <a:srgbClr val="232C57"/>
          </a:solidFill>
          <a:ln/>
        </p:spPr>
      </p:sp>
      <p:sp>
        <p:nvSpPr>
          <p:cNvPr id="37" name="Shape 31"/>
          <p:cNvSpPr/>
          <p:nvPr/>
        </p:nvSpPr>
        <p:spPr>
          <a:xfrm>
            <a:off x="7086600" y="4690872"/>
            <a:ext cx="219456" cy="219456"/>
          </a:xfrm>
          <a:prstGeom prst="ellipse">
            <a:avLst/>
          </a:prstGeom>
          <a:solidFill>
            <a:srgbClr val="5B6690"/>
          </a:solidFill>
          <a:ln/>
        </p:spPr>
      </p:sp>
      <p:sp>
        <p:nvSpPr>
          <p:cNvPr id="38" name="Text 32"/>
          <p:cNvSpPr/>
          <p:nvPr/>
        </p:nvSpPr>
        <p:spPr>
          <a:xfrm>
            <a:off x="7452360" y="45171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disponible ?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8892540" y="50657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903720" y="5321808"/>
            <a:ext cx="4251960" cy="566928"/>
          </a:xfrm>
          <a:prstGeom prst="roundRect">
            <a:avLst>
              <a:gd name="adj" fmla="val 11290"/>
            </a:avLst>
          </a:prstGeom>
          <a:solidFill>
            <a:srgbClr val="232C57"/>
          </a:solidFill>
          <a:ln/>
        </p:spPr>
      </p:sp>
      <p:sp>
        <p:nvSpPr>
          <p:cNvPr id="41" name="Shape 35"/>
          <p:cNvSpPr/>
          <p:nvPr/>
        </p:nvSpPr>
        <p:spPr>
          <a:xfrm>
            <a:off x="7086600" y="5495544"/>
            <a:ext cx="219456" cy="219456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42" name="Text 36"/>
          <p:cNvSpPr/>
          <p:nvPr/>
        </p:nvSpPr>
        <p:spPr>
          <a:xfrm>
            <a:off x="7452360" y="532180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+ exécution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d'exécution autonome d'un agent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est une instance du Claude Agent SDK : prompt système, playbook injecté au démarrage, jeu d'outils (MCP), mémoire court et long terme.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97864" y="263347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59" y="2823667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4564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7947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+ contexte de la tâche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578608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2761488" y="23774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6432" y="263347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627" y="2823667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52928" y="34564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98648" y="37947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à réaliser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837176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5020056" y="23774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5000" y="263347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195" y="282366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11496" y="34564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157216" y="37947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un outil / écrire du code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095744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7278624" y="23774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973568" y="263347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763" y="2823667"/>
            <a:ext cx="351130" cy="35113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70064" y="34564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 ?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415784" y="37947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sensible → human-in-the-loop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9354312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31" name="Shape 24"/>
          <p:cNvSpPr/>
          <p:nvPr/>
        </p:nvSpPr>
        <p:spPr>
          <a:xfrm>
            <a:off x="9537192" y="2377440"/>
            <a:ext cx="212140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232136" y="263347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331" y="2823667"/>
            <a:ext cx="351130" cy="35113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28632" y="34564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9674352" y="379476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+ trace complète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02920" y="4526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A8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Boucle jusqu'à l'objectif atteint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EEF1F9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77240" y="5257800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641" y="5405201"/>
            <a:ext cx="272125" cy="27212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508760" y="5120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à sable d'exécution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tourne dans un conteneur isolé, sur une branche Git dédiée (anti-collision), avec permissions scopées et plafonds de temps / dépense.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les agents communiquent entre eux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192755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noir partagé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77240" y="30175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principal. L'état des tâches + l'espace de travail servent de blackboard : les tâches dépendantes se débloquent automatiquement. Asynchrone, sans couplage.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79392" y="1463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73736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907" y="192755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712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 directe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553712" y="30175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point. Boîte aux lettres + bus pub/sub (Redis) : un agent envoie un message ciblé à un autre — handoff, question, notification — sans passer par l'orchestrateur.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55864" y="1463040"/>
            <a:ext cx="36118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30184" y="173736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379" y="192755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0184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A2A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330184" y="30175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langue standard. Agent Card (capacités), Task (unité de travail), Message (échange), sur HTTP/JSON-RPC/SSE. Pour interopérer avec des agents externes.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461772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141A33"/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4864608"/>
            <a:ext cx="548640" cy="5486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00725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6177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relie les agents aux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   </a:t>
            </a:r>
            <a:pPr algn="ctr" indent="0" marL="0">
              <a:buNone/>
            </a:pPr>
            <a:r>
              <a:rPr lang="en-US" sz="20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A2A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relie les agents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eux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Autonomie ≠ absence de contrôle : trois niveaux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74520"/>
            <a:ext cx="777240" cy="7772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" y="207660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 par agent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77240" y="33101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ne peut faire que ce que son rôle autorise — accès réseau et secrets scopés.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79392" y="15544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874520"/>
            <a:ext cx="777240" cy="7772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794" y="207660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712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553712" y="33101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Déploiement, migration destructive, dépense, suppression : pause et validation explicite dans l'UI.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55864" y="15544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30184" y="1874520"/>
            <a:ext cx="777240" cy="7772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266" y="207660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0184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globales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330184" y="33101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Plafonds de dépense par tâche/jour, liste d'actions interdites, time-outs, anti-boucle.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02920" y="4572000"/>
            <a:ext cx="11155680" cy="1097280"/>
          </a:xfrm>
          <a:prstGeom prst="roundRect">
            <a:avLst>
              <a:gd name="adj" fmla="val 7500"/>
            </a:avLst>
          </a:prstGeom>
          <a:solidFill>
            <a:srgbClr val="EEF1F9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4828032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4975433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6634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sans redéploiement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playbooks et configs sont stockés en base et versionnés ; modifier le workflow d'un agent depuis l'UI s'applique à la tâche suivante, sans redéployer.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choix recommandés (modulaires, remplaçables)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1709928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" y="1852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5608" y="1645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d'agents  ·  Python ou TypeScript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45352" y="1463040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64808" y="1709928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1852574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645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 ·  async, WebSocket natif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02920" y="2633472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22376" y="2880360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302300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35608" y="28163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+ Redis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mémoire  ·  relationnel, RAG, file &amp; pub/sub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45352" y="2633472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64808" y="2880360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302300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281635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ou Celery + Redis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durabilité  ·  reprise sur panne, relances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502920" y="3803904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22376" y="4050792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" y="4193438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35608" y="398678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+ Tailwind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shadcn/ui, temps réel WebSocket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245352" y="3803904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464808" y="4050792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454" y="4193438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78040" y="398678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 ·  traces, coûts, auto-hébergeable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502920" y="4974336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22376" y="5221224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022" y="5363870"/>
            <a:ext cx="263347" cy="263347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35608" y="51572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branche Git / tâche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 ·  → micro-VM si besoin</a:t>
            </a:r>
            <a:endParaRPr lang="en-US" sz="1450" dirty="0"/>
          </a:p>
        </p:txBody>
      </p:sp>
      <p:sp>
        <p:nvSpPr>
          <p:cNvPr id="34" name="Shape 24"/>
          <p:cNvSpPr/>
          <p:nvPr/>
        </p:nvSpPr>
        <p:spPr>
          <a:xfrm>
            <a:off x="6245352" y="4974336"/>
            <a:ext cx="5532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464808" y="5221224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7454" y="5363870"/>
            <a:ext cx="263347" cy="263347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78040" y="515721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(outils) + A2A (agents)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 ·  Git, BDD, CI/CD, Slack…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STRUCTURANTES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Rester simple, modulaire, observable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1460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70479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432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Orchestrateur-workers natif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5740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par Anthropic ; LangGraph seulement si flux d'états durables.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1945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51460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7047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432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de tâches + workers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52360" y="28163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Découple création/exécution, relances, montée en charge.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37947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411480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43049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Blackboard + A2A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057400" y="4416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sans couplage, handoff direct, standard interopérable.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37947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411480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30499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0325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Modularité de bout en bout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452360" y="44165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un agent, un outil ou le framework sans tout refondre.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complet : docs 01 (architecture), 02 (stack), 03 (données), 04 (agents), 05 (Control Tower).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Maestro — Architecture technique</dc:title>
  <dc:subject>PptxGenJS Presentation</dc:subject>
  <dc:creator>Maestro</dc:creator>
  <cp:lastModifiedBy>Maestro</cp:lastModifiedBy>
  <cp:revision>1</cp:revision>
  <dcterms:created xsi:type="dcterms:W3CDTF">2026-07-03T05:34:42Z</dcterms:created>
  <dcterms:modified xsi:type="dcterms:W3CDTF">2026-07-03T05:34:42Z</dcterms:modified>
</cp:coreProperties>
</file>