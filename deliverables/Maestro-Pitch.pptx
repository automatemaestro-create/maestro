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4206240" cy="4206240"/>
          </a:xfrm>
          <a:prstGeom prst="ellipse">
            <a:avLst/>
          </a:prstGeom>
          <a:solidFill>
            <a:srgbClr val="232C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023360"/>
            <a:ext cx="2743200" cy="2743200"/>
          </a:xfrm>
          <a:prstGeom prst="ellipse">
            <a:avLst/>
          </a:prstGeom>
          <a:solidFill>
            <a:srgbClr val="3A4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41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équipe d'IA qui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construit vos logiciels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objectif en entrée. </a:t>
            </a:r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d'agents IA spécialisés le découpe, l'exécute en parallèle et vous livre — sous votre supervision.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produit  ·  Propulsé par le Claude Agent SDK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un logiciel reste lent et coûteux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4630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fonctionnalité mobilise plusieurs métiers — projet, dev, base de données, infra, design, tests. Les assistants IA aident chacun de son côté, mais ne coopèrent pas : un humain doit tout coordonner à la main.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69748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971800"/>
            <a:ext cx="685800" cy="685800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" y="31501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37673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à 8 jours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777240" y="4343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fonctionnalité simple, côté équipe humaine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279392" y="269748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53712" y="2971800"/>
            <a:ext cx="685800" cy="685800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31501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53712" y="37673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1 500–5 500 €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4553712" y="4343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coût direct pour cette même fonctionnalité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8055864" y="269748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30184" y="2971800"/>
            <a:ext cx="685800" cy="685800"/>
          </a:xfrm>
          <a:prstGeom prst="ellipse">
            <a:avLst/>
          </a:prstGeom>
          <a:solidFill>
            <a:srgbClr val="EEF1F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492" y="3150108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30184" y="37673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Zéro coordination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8330184" y="4343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les assistants IA actuels — l'humain fait le lien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goulot d'étranglement n'est plus l'idée — c'est l'exécution coordonnée.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4206240" cy="4206240"/>
          </a:xfrm>
          <a:prstGeom prst="ellipse">
            <a:avLst/>
          </a:prstGeom>
          <a:solidFill>
            <a:srgbClr val="232C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023360"/>
            <a:ext cx="2743200" cy="2743200"/>
          </a:xfrm>
          <a:prstGeom prst="ellipse">
            <a:avLst/>
          </a:prstGeom>
          <a:solidFill>
            <a:srgbClr val="3A4A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 n'est pas un assistant. C'est une 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 logicielle virtuelle</a:t>
            </a:r>
            <a:pPr indent="0" marL="0">
              <a:lnSpc>
                <a:spcPct val="11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qui travaille en parallèle et que vous dirigez.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232C5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657600"/>
            <a:ext cx="777240" cy="77724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082" y="385968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572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Spécialisée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43000" y="5029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 experts : chef de projet, dev, BDD, DevOps, designer, QA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16552" y="33375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232C57"/>
          </a:solidFill>
          <a:ln/>
        </p:spPr>
      </p:sp>
      <p:sp>
        <p:nvSpPr>
          <p:cNvPr id="12" name="Shape 9"/>
          <p:cNvSpPr/>
          <p:nvPr/>
        </p:nvSpPr>
        <p:spPr>
          <a:xfrm>
            <a:off x="4736592" y="3657600"/>
            <a:ext cx="777240" cy="77724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674" y="385968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6592" y="4572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Autonome &amp; //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736592" y="5029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exécutent de bout en bout, en parallèle, sans micro-pilotage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10144" y="333756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232C57"/>
          </a:solidFill>
          <a:ln/>
        </p:spPr>
      </p:sp>
      <p:sp>
        <p:nvSpPr>
          <p:cNvPr id="17" name="Shape 13"/>
          <p:cNvSpPr/>
          <p:nvPr/>
        </p:nvSpPr>
        <p:spPr>
          <a:xfrm>
            <a:off x="8330184" y="3657600"/>
            <a:ext cx="777240" cy="77724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266" y="385968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0184" y="4572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Sous contrôle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330184" y="5029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console unique pour superviser, arbitrer et valider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équipe que vous pilotez du bout des doigts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décrivez un objectif ; l'orchestrateur crée les tickets, les route vers le bon agent, et les agents travaillent ensemble — pendant que vous suivez tout en temps réel.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98204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8163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Orchestrateur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298448" y="31455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 l'objectif, assigne, synthétise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5928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3593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qui coopèrent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298448" y="39227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direct, dépendances auto-débloquées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389120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53652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8448" y="4370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298448" y="4700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actions sensibles attendent votre feu vert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48640" y="5166360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5313761"/>
            <a:ext cx="272125" cy="2721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98448" y="5148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Coûts traçables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1298448" y="54772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tâche est chiffrée, plafonds configurables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035040" y="1417320"/>
            <a:ext cx="5623560" cy="4663440"/>
          </a:xfrm>
          <a:prstGeom prst="roundRect">
            <a:avLst>
              <a:gd name="adj" fmla="val 1569"/>
            </a:avLst>
          </a:prstGeom>
          <a:solidFill>
            <a:srgbClr val="141A33"/>
          </a:solidFill>
          <a:ln/>
          <a:effectLst>
            <a:outerShdw sx="100000" sy="100000" kx="0" ky="0" algn="bl" rotWithShape="0" blurRad="152400" dist="50800" dir="5400000">
              <a:srgbClr val="1A2340">
                <a:alpha val="20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6309360" y="1673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TÂCHES  ·  temps réel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35508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309360" y="2468880"/>
            <a:ext cx="1673352" cy="777240"/>
          </a:xfrm>
          <a:prstGeom prst="roundRect">
            <a:avLst>
              <a:gd name="adj" fmla="val 7059"/>
            </a:avLst>
          </a:prstGeom>
          <a:solidFill>
            <a:srgbClr val="232C57"/>
          </a:solidFill>
          <a:ln/>
        </p:spPr>
      </p:sp>
      <p:sp>
        <p:nvSpPr>
          <p:cNvPr id="27" name="Shape 20"/>
          <p:cNvSpPr/>
          <p:nvPr/>
        </p:nvSpPr>
        <p:spPr>
          <a:xfrm>
            <a:off x="6437376" y="2606040"/>
            <a:ext cx="146304" cy="146304"/>
          </a:xfrm>
          <a:prstGeom prst="ellipse">
            <a:avLst/>
          </a:prstGeom>
          <a:solidFill>
            <a:srgbClr val="5B6690"/>
          </a:solidFill>
          <a:ln/>
        </p:spPr>
      </p:sp>
      <p:sp>
        <p:nvSpPr>
          <p:cNvPr id="28" name="Text 21"/>
          <p:cNvSpPr/>
          <p:nvPr/>
        </p:nvSpPr>
        <p:spPr>
          <a:xfrm>
            <a:off x="6437376" y="27980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écran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309360" y="3383280"/>
            <a:ext cx="1673352" cy="777240"/>
          </a:xfrm>
          <a:prstGeom prst="roundRect">
            <a:avLst>
              <a:gd name="adj" fmla="val 7059"/>
            </a:avLst>
          </a:prstGeom>
          <a:solidFill>
            <a:srgbClr val="232C57"/>
          </a:solidFill>
          <a:ln/>
        </p:spPr>
      </p:sp>
      <p:sp>
        <p:nvSpPr>
          <p:cNvPr id="30" name="Shape 23"/>
          <p:cNvSpPr/>
          <p:nvPr/>
        </p:nvSpPr>
        <p:spPr>
          <a:xfrm>
            <a:off x="6437376" y="3520440"/>
            <a:ext cx="146304" cy="146304"/>
          </a:xfrm>
          <a:prstGeom prst="ellipse">
            <a:avLst/>
          </a:prstGeom>
          <a:solidFill>
            <a:srgbClr val="5B6690"/>
          </a:solidFill>
          <a:ln/>
        </p:spPr>
      </p:sp>
      <p:sp>
        <p:nvSpPr>
          <p:cNvPr id="31" name="Text 24"/>
          <p:cNvSpPr/>
          <p:nvPr/>
        </p:nvSpPr>
        <p:spPr>
          <a:xfrm>
            <a:off x="6437376" y="3712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BDD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81381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092440" y="2468880"/>
            <a:ext cx="1673352" cy="777240"/>
          </a:xfrm>
          <a:prstGeom prst="roundRect">
            <a:avLst>
              <a:gd name="adj" fmla="val 7059"/>
            </a:avLst>
          </a:prstGeom>
          <a:solidFill>
            <a:srgbClr val="232C57"/>
          </a:solidFill>
          <a:ln/>
        </p:spPr>
      </p:sp>
      <p:sp>
        <p:nvSpPr>
          <p:cNvPr id="34" name="Shape 27"/>
          <p:cNvSpPr/>
          <p:nvPr/>
        </p:nvSpPr>
        <p:spPr>
          <a:xfrm>
            <a:off x="8220456" y="2606040"/>
            <a:ext cx="146304" cy="146304"/>
          </a:xfrm>
          <a:prstGeom prst="ellipse">
            <a:avLst/>
          </a:prstGeom>
          <a:solidFill>
            <a:srgbClr val="C89B4B"/>
          </a:solidFill>
          <a:ln/>
        </p:spPr>
      </p:sp>
      <p:sp>
        <p:nvSpPr>
          <p:cNvPr id="35" name="Text 28"/>
          <p:cNvSpPr/>
          <p:nvPr/>
        </p:nvSpPr>
        <p:spPr>
          <a:xfrm>
            <a:off x="8220456" y="27980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/login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092440" y="3383280"/>
            <a:ext cx="1673352" cy="777240"/>
          </a:xfrm>
          <a:prstGeom prst="roundRect">
            <a:avLst>
              <a:gd name="adj" fmla="val 7059"/>
            </a:avLst>
          </a:prstGeom>
          <a:solidFill>
            <a:srgbClr val="232C57"/>
          </a:solidFill>
          <a:ln/>
        </p:spPr>
      </p:sp>
      <p:sp>
        <p:nvSpPr>
          <p:cNvPr id="37" name="Shape 30"/>
          <p:cNvSpPr/>
          <p:nvPr/>
        </p:nvSpPr>
        <p:spPr>
          <a:xfrm>
            <a:off x="8220456" y="3520440"/>
            <a:ext cx="146304" cy="146304"/>
          </a:xfrm>
          <a:prstGeom prst="ellipse">
            <a:avLst/>
          </a:prstGeom>
          <a:solidFill>
            <a:srgbClr val="C89B4B"/>
          </a:solidFill>
          <a:ln/>
        </p:spPr>
      </p:sp>
      <p:sp>
        <p:nvSpPr>
          <p:cNvPr id="38" name="Text 31"/>
          <p:cNvSpPr/>
          <p:nvPr/>
        </p:nvSpPr>
        <p:spPr>
          <a:xfrm>
            <a:off x="8220456" y="3712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connexion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99212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8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9875520" y="2468880"/>
            <a:ext cx="1673352" cy="777240"/>
          </a:xfrm>
          <a:prstGeom prst="roundRect">
            <a:avLst>
              <a:gd name="adj" fmla="val 7059"/>
            </a:avLst>
          </a:prstGeom>
          <a:solidFill>
            <a:srgbClr val="232C57"/>
          </a:solidFill>
          <a:ln/>
        </p:spPr>
      </p:sp>
      <p:sp>
        <p:nvSpPr>
          <p:cNvPr id="41" name="Shape 34"/>
          <p:cNvSpPr/>
          <p:nvPr/>
        </p:nvSpPr>
        <p:spPr>
          <a:xfrm>
            <a:off x="10003536" y="2606040"/>
            <a:ext cx="146304" cy="146304"/>
          </a:xfrm>
          <a:prstGeom prst="ellipse">
            <a:avLst/>
          </a:prstGeom>
          <a:solidFill>
            <a:srgbClr val="3E8E7E"/>
          </a:solidFill>
          <a:ln/>
        </p:spPr>
      </p:sp>
      <p:sp>
        <p:nvSpPr>
          <p:cNvPr id="42" name="Text 35"/>
          <p:cNvSpPr/>
          <p:nvPr/>
        </p:nvSpPr>
        <p:spPr>
          <a:xfrm>
            <a:off x="10003536" y="27980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630936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  ·  jusqu'à 3 en parallèle  ·  1 validation en attente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4206240" cy="4206240"/>
          </a:xfrm>
          <a:prstGeom prst="ellipse">
            <a:avLst/>
          </a:prstGeom>
          <a:solidFill>
            <a:srgbClr val="232C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023360"/>
            <a:ext cx="2743200" cy="2743200"/>
          </a:xfrm>
          <a:prstGeom prst="ellipse">
            <a:avLst/>
          </a:prstGeom>
          <a:solidFill>
            <a:srgbClr val="3A4A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fonctionnalité complète — l'authentification e-mail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agents, 7 tickets, jusqu'à 3 en parallèle. Base de données, back-end, interface, tests et déploiement — livrés ensemble.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232C57"/>
          </a:solidFill>
          <a:ln/>
          <a:effectLst>
            <a:outerShdw sx="100000" sy="100000" kx="0" ky="0" algn="bl" rotWithShape="0" blurRad="127000" dist="38100" dir="5400000">
              <a:srgbClr val="1A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0632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min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délai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3 à 8 jours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6552" y="274320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232C57"/>
          </a:solidFill>
          <a:ln/>
          <a:effectLst>
            <a:outerShdw sx="100000" sy="100000" kx="0" ky="0" algn="bl" rotWithShape="0" blurRad="127000" dist="38100" dir="5400000">
              <a:srgbClr val="1A23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16552" y="30632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7–12 $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416552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coût API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16552" y="4389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4–5 $ avec cache de prompts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10144" y="274320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232C57"/>
          </a:solidFill>
          <a:ln/>
          <a:effectLst>
            <a:outerShdw sx="100000" sy="100000" kx="0" ky="0" algn="bl" rotWithShape="0" blurRad="127000" dist="38100" dir="5400000">
              <a:srgbClr val="1A234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10144" y="30632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à 10×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010144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cher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10144" y="4389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humaine comprise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grandeur, tarifs API mi-2026 — à valider en mesurant les tokens réels lors du POC.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 face à une équipe humaine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11155680" cy="640080"/>
          </a:xfrm>
          <a:prstGeom prst="roundRect">
            <a:avLst>
              <a:gd name="adj" fmla="val 8571"/>
            </a:avLst>
          </a:prstGeom>
          <a:solidFill>
            <a:srgbClr val="141A33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600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160520" y="1600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C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 humaine (freelance FR)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09560" y="1600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9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 (agents IA)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240280"/>
            <a:ext cx="11155680" cy="841248"/>
          </a:xfrm>
          <a:prstGeom prst="rect">
            <a:avLst/>
          </a:prstGeom>
          <a:solidFill>
            <a:srgbClr val="F0F3FA"/>
          </a:solidFill>
          <a:ln w="6350">
            <a:solidFill>
              <a:srgbClr val="D8DE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24028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Temps écoulé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160520" y="224028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à 8 jours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909560" y="224028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~30–35 min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3081528"/>
            <a:ext cx="11155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08152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 direct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160520" y="308152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 – 5 500 €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909560" y="308152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– 12 $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02920" y="3922776"/>
            <a:ext cx="11155680" cy="841248"/>
          </a:xfrm>
          <a:prstGeom prst="rect">
            <a:avLst/>
          </a:prstGeom>
          <a:solidFill>
            <a:srgbClr val="F0F3FA"/>
          </a:solidFill>
          <a:ln w="6350">
            <a:solidFill>
              <a:srgbClr val="D8DE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92277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160520" y="392277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incluse dans l'effort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909560" y="392277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revue humaine (~0,5–1 j)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4764024"/>
            <a:ext cx="11155680" cy="841248"/>
          </a:xfrm>
          <a:prstGeom prst="rect">
            <a:avLst/>
          </a:prstGeom>
          <a:solidFill>
            <a:srgbClr val="EEF1F9"/>
          </a:solidFill>
          <a:ln w="6350">
            <a:solidFill>
              <a:srgbClr val="D8DE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476402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 réaliste total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160520" y="47640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 – 5 500 €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909560" y="47640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– 660 €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02920" y="574243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en intégrant la revue humaine indispensable, l'approche agents reste ~3 à 10× moins chère et bien plus rapide.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DIFFÉRENCIATEUR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multiplicateur de force, pas un gadget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74520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" y="206471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équipe, pas un assistant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737360" y="25146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concurrence livre un copilote par métier. Maestro orchestre une équipe qui coopère.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45352" y="155448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19672" y="1874520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867" y="206471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79792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Pilotable &amp; personnalisable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479792" y="25146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se configure ; ses instructions évoluent sans redéploiement.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02920" y="365760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3977640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" y="416783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37360" y="3977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Transparence totale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737360" y="46177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est tracée, chiffrée, rejouable — la confiance par le contrôle.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245352" y="365760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19672" y="3977640"/>
            <a:ext cx="731520" cy="731520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867" y="4167835"/>
            <a:ext cx="351130" cy="35113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79792" y="3977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Déplace le rôle humain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479792" y="46177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« écrire le code » vers « spécifier + valider » : l'humain garde le jugement.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232C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531449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296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25296" y="5852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Commencer simple, prouver, puis passer à l'échelle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68680" y="2286000"/>
            <a:ext cx="10424160" cy="0"/>
          </a:xfrm>
          <a:prstGeom prst="line">
            <a:avLst/>
          </a:prstGeom>
          <a:noFill/>
          <a:ln w="25400">
            <a:solidFill>
              <a:srgbClr val="D8DE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64208" y="2084832"/>
            <a:ext cx="402336" cy="402336"/>
          </a:xfrm>
          <a:prstGeom prst="ellipse">
            <a:avLst/>
          </a:prstGeom>
          <a:solidFill>
            <a:srgbClr val="C89B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2743200"/>
            <a:ext cx="2724912" cy="2651760"/>
          </a:xfrm>
          <a:prstGeom prst="roundRect">
            <a:avLst>
              <a:gd name="adj" fmla="val 3103"/>
            </a:avLst>
          </a:prstGeom>
          <a:solidFill>
            <a:srgbClr val="232C57"/>
          </a:solidFill>
          <a:ln w="12700">
            <a:solidFill>
              <a:srgbClr val="232C57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94436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321868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0664" y="38404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 + 2 agents. Valider le cœur.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548640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A8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sommes ici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26280" y="2084832"/>
            <a:ext cx="402336" cy="402336"/>
          </a:xfrm>
          <a:prstGeom prst="ellipse">
            <a:avLst/>
          </a:prstGeom>
          <a:solidFill>
            <a:srgbClr val="232C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64992" y="2743200"/>
            <a:ext cx="2724912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4992" y="294436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64992" y="321868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602736" y="38404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Parallélisme, Control Tower, garde-fous.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388352" y="2084832"/>
            <a:ext cx="402336" cy="402336"/>
          </a:xfrm>
          <a:prstGeom prst="ellipse">
            <a:avLst/>
          </a:prstGeom>
          <a:solidFill>
            <a:srgbClr val="232C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27064" y="2743200"/>
            <a:ext cx="2724912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227064" y="294436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27064" y="321868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464808" y="38404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agents, observabilité, coûts maîtrisés.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10250424" y="2084832"/>
            <a:ext cx="402336" cy="402336"/>
          </a:xfrm>
          <a:prstGeom prst="ellipse">
            <a:avLst/>
          </a:prstGeom>
          <a:solidFill>
            <a:srgbClr val="232C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89136" y="2743200"/>
            <a:ext cx="2724912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234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089136" y="2944368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089136" y="321868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C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9326880" y="38404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Durabilité, échelle, intégrations avancées.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fin de phase est un jalon de décision go / no-go — l'investissement suit la preuve.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4206240" cy="4206240"/>
          </a:xfrm>
          <a:prstGeom prst="ellipse">
            <a:avLst/>
          </a:prstGeom>
          <a:solidFill>
            <a:srgbClr val="232C5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023360"/>
            <a:ext cx="2743200" cy="2743200"/>
          </a:xfrm>
          <a:prstGeom prst="ellipse">
            <a:avLst/>
          </a:prstGeom>
          <a:solidFill>
            <a:srgbClr val="3A4A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685800" cy="685800"/>
          </a:xfrm>
          <a:prstGeom prst="ellipse">
            <a:avLst/>
          </a:prstGeom>
          <a:solidFill>
            <a:srgbClr val="C89B4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0012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8961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chef d'orchestre,</a:t>
            </a:r>
            <a:endParaRPr lang="en-US" sz="44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l'exécutant.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114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effondre le coût et le délai d'une première implémentation, et rend à l'humain son rôle : diriger, arbitrer, valider.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349240"/>
            <a:ext cx="4206240" cy="777240"/>
          </a:xfrm>
          <a:prstGeom prst="roundRect">
            <a:avLst>
              <a:gd name="adj" fmla="val 49412"/>
            </a:avLst>
          </a:prstGeom>
          <a:solidFill>
            <a:srgbClr val="C89B4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3492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 étape : lancer le POC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Maestro — Pitch</dc:title>
  <dc:subject>PptxGenJS Presentation</dc:subject>
  <dc:creator>Maestro</dc:creator>
  <cp:lastModifiedBy>Maestro</cp:lastModifiedBy>
  <cp:revision>1</cp:revision>
  <dcterms:created xsi:type="dcterms:W3CDTF">2026-07-03T05:32:22Z</dcterms:created>
  <dcterms:modified xsi:type="dcterms:W3CDTF">2026-07-03T05:32:22Z</dcterms:modified>
</cp:coreProperties>
</file>