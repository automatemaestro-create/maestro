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3383280"/>
            <a:ext cx="4206240" cy="4206240"/>
          </a:xfrm>
          <a:prstGeom prst="ellipse">
            <a:avLst/>
          </a:prstGeom>
          <a:solidFill>
            <a:srgbClr val="232C5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4023360"/>
            <a:ext cx="2743200" cy="2743200"/>
          </a:xfrm>
          <a:prstGeom prst="ellipse">
            <a:avLst/>
          </a:prstGeom>
          <a:solidFill>
            <a:srgbClr val="3A4A8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C89B4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9912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8412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Plateforme d'orchestration</a:t>
            </a:r>
            <a:endParaRPr lang="en-US" sz="4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d'agents IA autonomes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22960" y="42062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« entreprise logicielle » virtuelle : une équipe d'agents IA spécialisés qui se répartissent le travail, travaillent en parallèle, et que vous pilotez depuis une console unique.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 cadrage</a:t>
            </a:r>
            <a:pPr indent="0" marL="0">
              <a:buNone/>
            </a:pPr>
            <a:r>
              <a:rPr lang="en-US" sz="130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Propulsé par le Claude Agent SDK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25296" y="58521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assistants IA aident, mais ne collaborent pas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logiciel mobilise plusieurs métiers — gestion de projet, développement, base de données, infrastructure, design, qualité. Les assistants IA actuels aident métier par métier, mais ne collaborent pas entre eux : c'est un humain qui doit transporter le contexte de l'un à l'autre.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l'opérateur au chef d'orchestre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02920" y="437083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fait passer l'utilisateur du rôle d'« opérateur » qui exécute, à celui de chef d'orchestre qui dirige et arbitre.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46520" y="1417320"/>
            <a:ext cx="52120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1719072"/>
            <a:ext cx="640080" cy="640080"/>
          </a:xfrm>
          <a:prstGeom prst="ellipse">
            <a:avLst/>
          </a:prstGeom>
          <a:solidFill>
            <a:srgbClr val="EEF1F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541" y="1885493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167335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transporté à la main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98080" y="207568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L'humain fait le lien entre chaque outil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46520" y="2834640"/>
            <a:ext cx="52120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75120" y="3136392"/>
            <a:ext cx="640080" cy="640080"/>
          </a:xfrm>
          <a:prstGeom prst="ellipse">
            <a:avLst/>
          </a:prstGeom>
          <a:solidFill>
            <a:srgbClr val="EEF1F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541" y="3302813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98080" y="30906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coordination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498080" y="349300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répartition automatique du travail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46520" y="4251960"/>
            <a:ext cx="52120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75120" y="4553712"/>
            <a:ext cx="640080" cy="640080"/>
          </a:xfrm>
          <a:prstGeom prst="ellipse">
            <a:avLst/>
          </a:prstGeom>
          <a:solidFill>
            <a:srgbClr val="EEF1F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541" y="4720133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50799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 est séquentiel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98080" y="491032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métier attend la fin du précédent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3383280"/>
            <a:ext cx="4206240" cy="4206240"/>
          </a:xfrm>
          <a:prstGeom prst="ellipse">
            <a:avLst/>
          </a:prstGeom>
          <a:solidFill>
            <a:srgbClr val="232C5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4023360"/>
            <a:ext cx="2743200" cy="2743200"/>
          </a:xfrm>
          <a:prstGeom prst="ellipse">
            <a:avLst/>
          </a:prstGeom>
          <a:solidFill>
            <a:srgbClr val="3A4A8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Vous donnez un </a:t>
            </a:r>
            <a:pPr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C89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</a:t>
            </a:r>
            <a:pPr indent="0" marL="0">
              <a:lnSpc>
                <a:spcPct val="115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Un orchestrateur le découpe en tâches, les confie aux bons spécialistes, qui travaillent </a:t>
            </a:r>
            <a:pPr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C89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parallèle et en autonomie</a:t>
            </a:r>
            <a:pPr indent="0" marL="0">
              <a:lnSpc>
                <a:spcPct val="115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vous gardez le contrôle via une console unique.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232C57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4617720"/>
            <a:ext cx="640080" cy="640080"/>
          </a:xfrm>
          <a:prstGeom prst="ellipse">
            <a:avLst/>
          </a:prstGeom>
          <a:solidFill>
            <a:srgbClr val="C89B4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701" y="478414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5349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un assistant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97280" y="57058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équipe coordonnée, pas un outil isolé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16552" y="434340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232C57"/>
          </a:solidFill>
          <a:ln/>
        </p:spPr>
      </p:sp>
      <p:sp>
        <p:nvSpPr>
          <p:cNvPr id="12" name="Shape 9"/>
          <p:cNvSpPr/>
          <p:nvPr/>
        </p:nvSpPr>
        <p:spPr>
          <a:xfrm>
            <a:off x="4690872" y="4617720"/>
            <a:ext cx="640080" cy="640080"/>
          </a:xfrm>
          <a:prstGeom prst="ellipse">
            <a:avLst/>
          </a:prstGeom>
          <a:solidFill>
            <a:srgbClr val="C89B4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293" y="478414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90872" y="5349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Pilotable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90872" y="57058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agent se configure et se supervise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10144" y="434340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232C57"/>
          </a:solidFill>
          <a:ln/>
        </p:spPr>
      </p:sp>
      <p:sp>
        <p:nvSpPr>
          <p:cNvPr id="17" name="Shape 13"/>
          <p:cNvSpPr/>
          <p:nvPr/>
        </p:nvSpPr>
        <p:spPr>
          <a:xfrm>
            <a:off x="8284464" y="4617720"/>
            <a:ext cx="640080" cy="640080"/>
          </a:xfrm>
          <a:prstGeom prst="ellipse">
            <a:avLst/>
          </a:prstGeom>
          <a:solidFill>
            <a:srgbClr val="C89B4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885" y="478414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4464" y="5349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Personnalisable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284464" y="57058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Créez et adaptez vos propres agents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25296" y="58521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agents spécialisés, entièrement configurables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36576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58952" y="1737360"/>
            <a:ext cx="658368" cy="65836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128" y="1908536"/>
            <a:ext cx="316017" cy="3160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77393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Chef de projet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600200" y="22128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Découpe, priorise, assigne, synthétise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325112" y="1463040"/>
            <a:ext cx="36576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81144" y="1737360"/>
            <a:ext cx="658368" cy="65836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320" y="1908536"/>
            <a:ext cx="316017" cy="31601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22392" y="177393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Développeur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5422392" y="22128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 et modifie le code applicatif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47304" y="1463040"/>
            <a:ext cx="36576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03336" y="1737360"/>
            <a:ext cx="658368" cy="65836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4512" y="1908536"/>
            <a:ext cx="316017" cy="31601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44584" y="177393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données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9244584" y="22128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Schéma, migrations, requêtes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02920" y="3246120"/>
            <a:ext cx="36576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58952" y="3520440"/>
            <a:ext cx="658368" cy="65836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128" y="3691616"/>
            <a:ext cx="316017" cy="31601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00200" y="35570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1600200" y="39959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infrastructure, déploiement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4325112" y="3246120"/>
            <a:ext cx="36576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581144" y="3520440"/>
            <a:ext cx="658368" cy="65836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2320" y="3691616"/>
            <a:ext cx="316017" cy="31601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422392" y="35570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Designer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5422392" y="39959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UI/UX, maquettes, design system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8147304" y="3246120"/>
            <a:ext cx="36576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403336" y="3520440"/>
            <a:ext cx="658368" cy="65836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4512" y="3691616"/>
            <a:ext cx="316017" cy="316017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244584" y="35570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/ Testeur</a:t>
            </a:r>
            <a:endParaRPr lang="en-US" sz="1700" dirty="0"/>
          </a:p>
        </p:txBody>
      </p:sp>
      <p:sp>
        <p:nvSpPr>
          <p:cNvPr id="35" name="Text 26"/>
          <p:cNvSpPr/>
          <p:nvPr/>
        </p:nvSpPr>
        <p:spPr>
          <a:xfrm>
            <a:off x="9244584" y="39959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validation, revue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502920" y="51663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agents sont entièrement configurables depuis l'interface — et vous pouvez en créer de nouveaux.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PRINCIPE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25296" y="58521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l'objectif au livrable : orchestrateur → workers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2331720"/>
            <a:ext cx="2121408" cy="219456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97864" y="2587752"/>
            <a:ext cx="731520" cy="73152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059" y="2777947"/>
            <a:ext cx="351130" cy="3511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341071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Objectif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40080" y="3776472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décrivez un but en langage naturel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578608" y="30175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8"/>
          <p:cNvSpPr/>
          <p:nvPr/>
        </p:nvSpPr>
        <p:spPr>
          <a:xfrm>
            <a:off x="2761488" y="2331720"/>
            <a:ext cx="2121408" cy="219456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56432" y="2587752"/>
            <a:ext cx="731520" cy="73152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627" y="2777947"/>
            <a:ext cx="351130" cy="35113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52928" y="341071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Découpage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2898648" y="3776472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L'orchestrateur crée des tickets + dépendances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837176" y="30175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Shape 13"/>
          <p:cNvSpPr/>
          <p:nvPr/>
        </p:nvSpPr>
        <p:spPr>
          <a:xfrm>
            <a:off x="5020056" y="2331720"/>
            <a:ext cx="2121408" cy="219456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715000" y="2587752"/>
            <a:ext cx="731520" cy="73152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195" y="2777947"/>
            <a:ext cx="351130" cy="35113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11496" y="341071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Assignation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157216" y="3776472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ticket part vers le bon agent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095744" y="30175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24" name="Shape 18"/>
          <p:cNvSpPr/>
          <p:nvPr/>
        </p:nvSpPr>
        <p:spPr>
          <a:xfrm>
            <a:off x="7278624" y="2331720"/>
            <a:ext cx="2121408" cy="219456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973568" y="2587752"/>
            <a:ext cx="731520" cy="73152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3763" y="2777947"/>
            <a:ext cx="351130" cy="35113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70064" y="341071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Exécution //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7415784" y="3776472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agents travaillent en parallèle, en autonomie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9354312" y="30175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30" name="Shape 23"/>
          <p:cNvSpPr/>
          <p:nvPr/>
        </p:nvSpPr>
        <p:spPr>
          <a:xfrm>
            <a:off x="9537192" y="2331720"/>
            <a:ext cx="2121408" cy="219456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10232136" y="2587752"/>
            <a:ext cx="731520" cy="73152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2331" y="2777947"/>
            <a:ext cx="351130" cy="35113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628632" y="341071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Synthèse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9674352" y="3776472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agrégés en un livrable cohérent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02920" y="4892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tâche déléguée contient un objectif, un format de sortie attendu, les outils à utiliser et des limites claires — la clé pour éviter doublons et oublis.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25296" y="58521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vous faites avec Maestro au quotidien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553212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0664" y="1700784"/>
            <a:ext cx="585216" cy="585216"/>
          </a:xfrm>
          <a:prstGeom prst="ellipse">
            <a:avLst/>
          </a:prstGeom>
          <a:solidFill>
            <a:srgbClr val="EEF1F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820" y="1852940"/>
            <a:ext cx="280904" cy="2809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645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l'idée aux tickets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508760" y="19933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Ajoute l'authentification e-mail » → 5 tickets créés avec leurs dépendances.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45352" y="1463040"/>
            <a:ext cx="553212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83096" y="1700784"/>
            <a:ext cx="585216" cy="585216"/>
          </a:xfrm>
          <a:prstGeom prst="ellipse">
            <a:avLst/>
          </a:prstGeom>
          <a:solidFill>
            <a:srgbClr val="EEF1F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252" y="1852940"/>
            <a:ext cx="280904" cy="2809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51192" y="1645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 en direct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7251192" y="19933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Kanban temps réel : qui fait quoi, l'avancement, le coût cumulé.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2920" y="2670048"/>
            <a:ext cx="553212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0664" y="2907792"/>
            <a:ext cx="585216" cy="585216"/>
          </a:xfrm>
          <a:prstGeom prst="ellipse">
            <a:avLst/>
          </a:prstGeom>
          <a:solidFill>
            <a:srgbClr val="EEF1F9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820" y="3059948"/>
            <a:ext cx="280904" cy="2809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28529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Intervention humaine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1508760" y="3200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action sensible attend votre validation depuis l'interface.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245352" y="2670048"/>
            <a:ext cx="553212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83096" y="2907792"/>
            <a:ext cx="585216" cy="585216"/>
          </a:xfrm>
          <a:prstGeom prst="ellipse">
            <a:avLst/>
          </a:prstGeom>
          <a:solidFill>
            <a:srgbClr val="EEF1F9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252" y="3059948"/>
            <a:ext cx="280904" cy="28090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51192" y="28529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Personnalisation d'agent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7251192" y="3200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Modifiez le playbook du Designer ; le changement s'applique à la tâche suivante.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502920" y="3877056"/>
            <a:ext cx="553212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40664" y="4114800"/>
            <a:ext cx="585216" cy="585216"/>
          </a:xfrm>
          <a:prstGeom prst="ellipse">
            <a:avLst/>
          </a:prstGeom>
          <a:solidFill>
            <a:srgbClr val="EEF1F9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820" y="4266956"/>
            <a:ext cx="280904" cy="28090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508760" y="40599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directe</a:t>
            </a:r>
            <a:endParaRPr lang="en-US" sz="1550" dirty="0"/>
          </a:p>
        </p:txBody>
      </p:sp>
      <p:sp>
        <p:nvSpPr>
          <p:cNvPr id="30" name="Text 22"/>
          <p:cNvSpPr/>
          <p:nvPr/>
        </p:nvSpPr>
        <p:spPr>
          <a:xfrm>
            <a:off x="1508760" y="44074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un chat avec l'agent DevOps pour qu'il explique ou corrige.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6245352" y="3877056"/>
            <a:ext cx="553212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483096" y="4114800"/>
            <a:ext cx="585216" cy="585216"/>
          </a:xfrm>
          <a:prstGeom prst="ellipse">
            <a:avLst/>
          </a:prstGeom>
          <a:solidFill>
            <a:srgbClr val="EEF1F9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5252" y="4266956"/>
            <a:ext cx="280904" cy="28090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251192" y="40599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Pilotage de la capacité</a:t>
            </a:r>
            <a:endParaRPr lang="en-US" sz="1550" dirty="0"/>
          </a:p>
        </p:txBody>
      </p:sp>
      <p:sp>
        <p:nvSpPr>
          <p:cNvPr id="35" name="Text 26"/>
          <p:cNvSpPr/>
          <p:nvPr/>
        </p:nvSpPr>
        <p:spPr>
          <a:xfrm>
            <a:off x="7251192" y="44074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Ajoutez des instances de l'agent Développeur pour absorber la charge.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TOWER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25296" y="58521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poste de pilotage unique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L'interface web où vous supervisez, configurez, interagissez et gardez la main — pensée pour un profil non technique, multilingue (français par défaut).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2840126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6791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de bord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280160" y="29992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tâches et validations en temps réel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593592"/>
            <a:ext cx="548640" cy="54864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3736238"/>
            <a:ext cx="263347" cy="2633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57530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Tâches — Kanban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280160" y="38953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Glisser-déposer, réassignation, dépendances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4489704"/>
            <a:ext cx="548640" cy="54864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4632350"/>
            <a:ext cx="263347" cy="26334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447141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Fiche agent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280160" y="47914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Prompt, outils, playbook versionné, chat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48640" y="5385816"/>
            <a:ext cx="548640" cy="54864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" y="5528462"/>
            <a:ext cx="263347" cy="26334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80160" y="53675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Coûts &amp; analytics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1280160" y="56875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par agent/jour, débit, taux de réussite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5989320" y="1417320"/>
            <a:ext cx="5669280" cy="4663440"/>
          </a:xfrm>
          <a:prstGeom prst="roundRect">
            <a:avLst>
              <a:gd name="adj" fmla="val 1569"/>
            </a:avLst>
          </a:prstGeom>
          <a:solidFill>
            <a:srgbClr val="141A33"/>
          </a:solidFill>
          <a:ln/>
          <a:effectLst>
            <a:outerShdw sx="100000" sy="100000" kx="0" ky="0" algn="bl" rotWithShape="0" blurRad="152400" dist="50800" dir="5400000">
              <a:srgbClr val="1A2340">
                <a:alpha val="22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6263640" y="1636776"/>
            <a:ext cx="384048" cy="384048"/>
          </a:xfrm>
          <a:prstGeom prst="ellipse">
            <a:avLst/>
          </a:prstGeom>
          <a:solidFill>
            <a:srgbClr val="C89B4B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3492" y="1736628"/>
            <a:ext cx="184343" cy="18434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39128" y="16550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Maestro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8641080" y="1719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: Auth e-mail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10607040" y="17190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4,80 $/j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6263640" y="2194560"/>
            <a:ext cx="1673352" cy="3566160"/>
          </a:xfrm>
          <a:prstGeom prst="roundRect">
            <a:avLst>
              <a:gd name="adj" fmla="val 3279"/>
            </a:avLst>
          </a:prstGeom>
          <a:solidFill>
            <a:srgbClr val="232C57"/>
          </a:solidFill>
          <a:ln/>
        </p:spPr>
      </p:sp>
      <p:sp>
        <p:nvSpPr>
          <p:cNvPr id="30" name="Text 22"/>
          <p:cNvSpPr/>
          <p:nvPr/>
        </p:nvSpPr>
        <p:spPr>
          <a:xfrm>
            <a:off x="640080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6400800" y="2697480"/>
            <a:ext cx="1463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(2)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 (pause)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8046720" y="2194560"/>
            <a:ext cx="1673352" cy="3566160"/>
          </a:xfrm>
          <a:prstGeom prst="roundRect">
            <a:avLst>
              <a:gd name="adj" fmla="val 3279"/>
            </a:avLst>
          </a:prstGeom>
          <a:solidFill>
            <a:srgbClr val="232C57"/>
          </a:solidFill>
          <a:ln/>
        </p:spPr>
      </p:sp>
      <p:sp>
        <p:nvSpPr>
          <p:cNvPr id="33" name="Text 25"/>
          <p:cNvSpPr/>
          <p:nvPr/>
        </p:nvSpPr>
        <p:spPr>
          <a:xfrm>
            <a:off x="818388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8183880" y="2697480"/>
            <a:ext cx="1463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     3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    4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 1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Terminées 12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9829800" y="2194560"/>
            <a:ext cx="1673352" cy="3566160"/>
          </a:xfrm>
          <a:prstGeom prst="roundRect">
            <a:avLst>
              <a:gd name="adj" fmla="val 3279"/>
            </a:avLst>
          </a:prstGeom>
          <a:solidFill>
            <a:srgbClr val="232C57"/>
          </a:solidFill>
          <a:ln/>
        </p:spPr>
      </p:sp>
      <p:sp>
        <p:nvSpPr>
          <p:cNvPr id="36" name="Text 28"/>
          <p:cNvSpPr/>
          <p:nvPr/>
        </p:nvSpPr>
        <p:spPr>
          <a:xfrm>
            <a:off x="996696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9966960" y="2697480"/>
            <a:ext cx="1463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 attente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Déploiement »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Approuver ]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C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Refuser 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CONCRET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25296" y="58521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fonctionnalité complète : l'authentification e-mail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confié à Maestro : « Ajoute l'authentification e-mail / mot de passe. » Le Chef de projet le découpe en 7 tickets, mobilisant 6 agents, jusqu'à 3 en parallèle.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2377440"/>
            <a:ext cx="2724912" cy="1691640"/>
          </a:xfrm>
          <a:prstGeom prst="roundRect">
            <a:avLst>
              <a:gd name="adj" fmla="val 4865"/>
            </a:avLst>
          </a:prstGeom>
          <a:solidFill>
            <a:srgbClr val="232C57"/>
          </a:solidFill>
          <a:ln/>
          <a:effectLst>
            <a:outerShdw sx="100000" sy="100000" kx="0" ky="0" algn="bl" rotWithShape="0" blurRad="101600" dist="25400" dir="5400000">
              <a:srgbClr val="1A234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2542032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9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502920" y="324612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" y="356616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générés automatiquement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64992" y="2377440"/>
            <a:ext cx="2724912" cy="1691640"/>
          </a:xfrm>
          <a:prstGeom prst="roundRect">
            <a:avLst>
              <a:gd name="adj" fmla="val 4865"/>
            </a:avLst>
          </a:prstGeom>
          <a:solidFill>
            <a:srgbClr val="232C57"/>
          </a:solidFill>
          <a:ln/>
          <a:effectLst>
            <a:outerShdw sx="100000" sy="100000" kx="0" ky="0" algn="bl" rotWithShape="0" blurRad="101600" dist="25400" dir="5400000">
              <a:srgbClr val="1A234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364992" y="2542032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9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 min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3364992" y="324612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parallèle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364992" y="356616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~1 h en séquentiel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27064" y="2377440"/>
            <a:ext cx="2724912" cy="1691640"/>
          </a:xfrm>
          <a:prstGeom prst="roundRect">
            <a:avLst>
              <a:gd name="adj" fmla="val 4865"/>
            </a:avLst>
          </a:prstGeom>
          <a:solidFill>
            <a:srgbClr val="232C57"/>
          </a:solidFill>
          <a:ln/>
          <a:effectLst>
            <a:outerShdw sx="100000" sy="100000" kx="0" ky="0" algn="bl" rotWithShape="0" blurRad="101600" dist="25400" dir="5400000">
              <a:srgbClr val="1A2340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227064" y="2542032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9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6227064" y="324612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en //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227064" y="356616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travaillant simultanément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089136" y="2377440"/>
            <a:ext cx="2724912" cy="1691640"/>
          </a:xfrm>
          <a:prstGeom prst="roundRect">
            <a:avLst>
              <a:gd name="adj" fmla="val 4865"/>
            </a:avLst>
          </a:prstGeom>
          <a:solidFill>
            <a:srgbClr val="232C57"/>
          </a:solidFill>
          <a:ln/>
          <a:effectLst>
            <a:outerShdw sx="100000" sy="100000" kx="0" ky="0" algn="bl" rotWithShape="0" blurRad="101600" dist="25400" dir="5400000">
              <a:srgbClr val="1A2340">
                <a:alpha val="14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089136" y="2542032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9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7–12 $</a:t>
            </a:r>
            <a:endParaRPr lang="en-US" sz="3400" dirty="0"/>
          </a:p>
        </p:txBody>
      </p:sp>
      <p:sp>
        <p:nvSpPr>
          <p:cNvPr id="21" name="Text 18"/>
          <p:cNvSpPr/>
          <p:nvPr/>
        </p:nvSpPr>
        <p:spPr>
          <a:xfrm>
            <a:off x="9089136" y="324612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API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089136" y="356616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4–5 $ avec cache de prompts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02920" y="4343400"/>
            <a:ext cx="11155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3152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à une équipe humaine (freelance France)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31520" y="48463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écoulé 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32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à 8 jours → ~30 min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réaliste total 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32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~1 500–5 500 € → ~300–660 €  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(revue humaine incluse)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Ordres de grandeur, tarifs API mi-2026 — à valider lors du POC.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25296" y="58521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Commencer simple, prouver la valeur, puis robustifier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68680" y="2194560"/>
            <a:ext cx="10424160" cy="0"/>
          </a:xfrm>
          <a:prstGeom prst="line">
            <a:avLst/>
          </a:prstGeom>
          <a:noFill/>
          <a:ln w="25400">
            <a:solidFill>
              <a:srgbClr val="D8DE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82496" y="2011680"/>
            <a:ext cx="365760" cy="365760"/>
          </a:xfrm>
          <a:prstGeom prst="ellipse">
            <a:avLst/>
          </a:prstGeom>
          <a:solidFill>
            <a:srgbClr val="5B66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2651760"/>
            <a:ext cx="2724912" cy="274320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288036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315468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B66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758952" y="3794760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Orchestrateur + 2 agents en ligne de commande. Valider le cœur du pattern.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44568" y="2011680"/>
            <a:ext cx="365760" cy="365760"/>
          </a:xfrm>
          <a:prstGeom prst="ellipse">
            <a:avLst/>
          </a:prstGeom>
          <a:solidFill>
            <a:srgbClr val="3A4A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64992" y="2651760"/>
            <a:ext cx="2724912" cy="274320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364992" y="288036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64992" y="315468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A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3621024" y="3794760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Parallélisme réel, Control Tower v1, human-in-the-loop, suivi de coût.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406640" y="2011680"/>
            <a:ext cx="365760" cy="365760"/>
          </a:xfrm>
          <a:prstGeom prst="ellipse">
            <a:avLst/>
          </a:prstGeom>
          <a:solidFill>
            <a:srgbClr val="232C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27064" y="2651760"/>
            <a:ext cx="2724912" cy="274320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227064" y="288036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227064" y="315468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32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2500" dirty="0"/>
          </a:p>
        </p:txBody>
      </p:sp>
      <p:sp>
        <p:nvSpPr>
          <p:cNvPr id="21" name="Text 18"/>
          <p:cNvSpPr/>
          <p:nvPr/>
        </p:nvSpPr>
        <p:spPr>
          <a:xfrm>
            <a:off x="6483096" y="3794760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6 agents, playbooks versionnés, observabilité, chat, analytics.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0268712" y="2011680"/>
            <a:ext cx="365760" cy="365760"/>
          </a:xfrm>
          <a:prstGeom prst="ellipse">
            <a:avLst/>
          </a:prstGeom>
          <a:solidFill>
            <a:srgbClr val="141A3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089136" y="2651760"/>
            <a:ext cx="2724912" cy="274320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089136" y="288036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089136" y="315468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2500" dirty="0"/>
          </a:p>
        </p:txBody>
      </p:sp>
      <p:sp>
        <p:nvSpPr>
          <p:cNvPr id="26" name="Text 23"/>
          <p:cNvSpPr/>
          <p:nvPr/>
        </p:nvSpPr>
        <p:spPr>
          <a:xfrm>
            <a:off x="9345168" y="3794760"/>
            <a:ext cx="22128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durables, scalabilité, intégrations MCP avancées, sécurité renforcée.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02920" y="56235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Durées indicatives — chaque fin de phase est un jalon de décision go / no-go.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3383280"/>
            <a:ext cx="4206240" cy="4206240"/>
          </a:xfrm>
          <a:prstGeom prst="ellipse">
            <a:avLst/>
          </a:prstGeom>
          <a:solidFill>
            <a:srgbClr val="232C5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4023360"/>
            <a:ext cx="2743200" cy="2743200"/>
          </a:xfrm>
          <a:prstGeom prst="ellipse">
            <a:avLst/>
          </a:prstGeom>
          <a:solidFill>
            <a:srgbClr val="3A4A8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 DIRECTEURS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Autonomie sous supervision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232C57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606040"/>
            <a:ext cx="731520" cy="731520"/>
          </a:xfrm>
          <a:prstGeom prst="ellipse">
            <a:avLst/>
          </a:prstGeom>
          <a:solidFill>
            <a:srgbClr val="C89B4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7475" y="279623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25420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Commencer simple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057400" y="29443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orchestrateur-workers natif, sans sur-ingénierie.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228600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232C57"/>
          </a:solidFill>
          <a:ln/>
        </p:spPr>
      </p:sp>
      <p:sp>
        <p:nvSpPr>
          <p:cNvPr id="12" name="Shape 9"/>
          <p:cNvSpPr/>
          <p:nvPr/>
        </p:nvSpPr>
        <p:spPr>
          <a:xfrm>
            <a:off x="6492240" y="2606040"/>
            <a:ext cx="731520" cy="731520"/>
          </a:xfrm>
          <a:prstGeom prst="ellipse">
            <a:avLst/>
          </a:prstGeom>
          <a:solidFill>
            <a:srgbClr val="C89B4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435" y="279623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52360" y="25420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 modulaire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452360" y="29443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agent est une brique indépendante et remplaçable.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2960" y="388620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232C57"/>
          </a:solidFill>
          <a:ln/>
        </p:spPr>
      </p:sp>
      <p:sp>
        <p:nvSpPr>
          <p:cNvPr id="17" name="Shape 13"/>
          <p:cNvSpPr/>
          <p:nvPr/>
        </p:nvSpPr>
        <p:spPr>
          <a:xfrm>
            <a:off x="1097280" y="4206240"/>
            <a:ext cx="731520" cy="731520"/>
          </a:xfrm>
          <a:prstGeom prst="ellipse">
            <a:avLst/>
          </a:prstGeom>
          <a:solidFill>
            <a:srgbClr val="C89B4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475" y="439643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57400" y="4142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Autonomie supervisée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2057400" y="45445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actions sensibles passent par une validation humaine.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217920" y="388620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232C57"/>
          </a:solidFill>
          <a:ln/>
        </p:spPr>
      </p:sp>
      <p:sp>
        <p:nvSpPr>
          <p:cNvPr id="22" name="Shape 17"/>
          <p:cNvSpPr/>
          <p:nvPr/>
        </p:nvSpPr>
        <p:spPr>
          <a:xfrm>
            <a:off x="6492240" y="4206240"/>
            <a:ext cx="731520" cy="731520"/>
          </a:xfrm>
          <a:prstGeom prst="ellipse">
            <a:avLst/>
          </a:prstGeom>
          <a:solidFill>
            <a:srgbClr val="C89B4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435" y="4396435"/>
            <a:ext cx="351130" cy="35113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52360" y="4142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 est observable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7452360" y="45445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action est tracée, chiffrée en coût, rejouable.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— transformer un objectif en travail concret, réparti, supervisé.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Maestro — Vue d'ensemble</dc:title>
  <dc:subject>PptxGenJS Presentation</dc:subject>
  <dc:creator>Maestro</dc:creator>
  <cp:lastModifiedBy>Maestro</cp:lastModifiedBy>
  <cp:revision>1</cp:revision>
  <dcterms:created xsi:type="dcterms:W3CDTF">2026-07-03T05:30:22Z</dcterms:created>
  <dcterms:modified xsi:type="dcterms:W3CDTF">2026-07-03T05:30:22Z</dcterms:modified>
</cp:coreProperties>
</file>